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C8102E"/>
                </a:solidFill>
                <a:latin typeface="Malgun Gothic"/>
              </a:rPr>
              <a:t>COSMAX 생산3팀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1A1A1A"/>
                </a:solidFill>
                <a:latin typeface="Malgun Gothic"/>
              </a:rPr>
              <a:t>파우더 벌크 제조량 예측 프로그램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3977639"/>
            <a:ext cx="9144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444444"/>
                </a:solidFill>
                <a:latin typeface="Malgun Gothic"/>
              </a:rPr>
              <a:t>SAP 실적 데이터 + 머신러닝 기반 최적 제조량 예측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Malgun Gothic"/>
              </a:rPr>
              <a:t>버전 2.0  |  2026년 4월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C8102E"/>
                </a:solidFill>
                <a:latin typeface="Malgun Gothi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algun Gothic"/>
              </a:rPr>
              <a:t>프로그램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algun Gothic"/>
              </a:rPr>
              <a:t>파우더 제품의 '벌크 최적 제조량'을 예측하는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Malgun Gothic"/>
              </a:rPr>
              <a:t>완제품 BOM 데이터와 SAP 실적 데이터를 기반으로, 각 벌크의 이론 필요량에 과거 로스율을 반영하여
실제로 제조해야 할 최적 수량을 산출합니다.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17520"/>
            <a:ext cx="320040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4E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E79A7"/>
                </a:solidFill>
                <a:latin typeface="Malgun Gothic"/>
              </a:rPr>
              <a:t>INPUT  |  입력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algun Gothic"/>
              </a:rPr>
              <a:t>• 완제품 BOM
• SAP 표준 대비 실적
• 벌크 폐기 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2918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C8102E"/>
                </a:solidFill>
                <a:latin typeface="Malgun Gothic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017520"/>
            <a:ext cx="3200400" cy="1005840"/>
          </a:xfrm>
          <a:prstGeom prst="rect">
            <a:avLst/>
          </a:prstGeom>
          <a:solidFill>
            <a:srgbClr val="F8F9FA"/>
          </a:solidFill>
          <a:ln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0175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C8102E"/>
                </a:solidFill>
                <a:latin typeface="Malgun Gothic"/>
              </a:rPr>
              <a:t>PROCESS  |  예측 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3756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algun Gothic"/>
              </a:rPr>
              <a:t>• 최근 5건 가중평균 로스율
• 신뢰도 점수 산출
• ML 예측 비교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2918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C8102E"/>
                </a:solidFill>
                <a:latin typeface="Malgun Gothic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017520"/>
            <a:ext cx="320040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4E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0175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E79A7"/>
                </a:solidFill>
                <a:latin typeface="Malgun Gothic"/>
              </a:rPr>
              <a:t>OUTPUT  | 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3756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algun Gothic"/>
              </a:rPr>
              <a:t>• 벌크별 최적 제조량
• 신뢰도 + 상세 이력
• 엑셀/CSV 다운로드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54880"/>
            <a:ext cx="11064240" cy="1188720"/>
          </a:xfrm>
          <a:prstGeom prst="rect">
            <a:avLst/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Malgun Gothic"/>
              </a:rPr>
              <a:t>핵심 가치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algun Gothic"/>
              </a:rPr>
              <a:t>SAP 표준 대비 투입률 데이터를 활용해 '이론 필요량'에 로스율을 자동 반영 → 현장에서 실측 없이도 적정 제조량 도출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Malgun Gothic"/>
              </a:rPr>
              <a:t>COSMAX 생산3팀 | 파우더 벌크 제조량 예측 프로그램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Malgun Gothic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C8102E"/>
                </a:solidFill>
                <a:latin typeface="Malgun Gothi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algun Gothic"/>
              </a:rPr>
              <a:t>주요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500" b="1">
                <a:solidFill>
                  <a:srgbClr val="1A1A1A"/>
                </a:solidFill>
                <a:latin typeface="Malgun Gothic"/>
              </a:rPr>
              <a:t>BOM 구조 분석</a:t>
            </a:r>
            <a:r>
              <a:rPr sz="1500" b="0">
                <a:solidFill>
                  <a:srgbClr val="444444"/>
                </a:solidFill>
                <a:latin typeface="Malgun Gothic"/>
              </a:rPr>
              <a:t> — 완제품 → 성형물 → 벌크 구조를 트리 형태로 시각화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500" b="1">
                <a:solidFill>
                  <a:srgbClr val="1A1A1A"/>
                </a:solidFill>
                <a:latin typeface="Malgun Gothic"/>
              </a:rPr>
              <a:t>벌크별 필요 제조량 계산</a:t>
            </a:r>
            <a:r>
              <a:rPr sz="1500" b="0">
                <a:solidFill>
                  <a:srgbClr val="444444"/>
                </a:solidFill>
                <a:latin typeface="Malgun Gothic"/>
              </a:rPr>
              <a:t> — 발주 수량 입력 시 벌크별 최적 제조량 자동 산출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500" b="1">
                <a:solidFill>
                  <a:srgbClr val="1A1A1A"/>
                </a:solidFill>
                <a:latin typeface="Malgun Gothic"/>
              </a:rPr>
              <a:t>로스율 기반 예측</a:t>
            </a:r>
            <a:r>
              <a:rPr sz="1500" b="0">
                <a:solidFill>
                  <a:srgbClr val="444444"/>
                </a:solidFill>
                <a:latin typeface="Malgun Gothic"/>
              </a:rPr>
              <a:t> — SAP 실적 데이터 최근 5건 가중평균으로 로스율 산출 (이상치 영향 감소)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500" b="1">
                <a:solidFill>
                  <a:srgbClr val="1A1A1A"/>
                </a:solidFill>
                <a:latin typeface="Malgun Gothic"/>
              </a:rPr>
              <a:t>신뢰도 점수 표시</a:t>
            </a:r>
            <a:r>
              <a:rPr sz="1500" b="0">
                <a:solidFill>
                  <a:srgbClr val="444444"/>
                </a:solidFill>
                <a:latin typeface="Malgun Gothic"/>
              </a:rPr>
              <a:t> — 표본수·편차·최신성 기반 0~100점 평가 및 등급 배지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500" b="1">
                <a:solidFill>
                  <a:srgbClr val="1A1A1A"/>
                </a:solidFill>
                <a:latin typeface="Malgun Gothic"/>
              </a:rPr>
              <a:t>ML(머신러닝) 예측 비교</a:t>
            </a:r>
            <a:r>
              <a:rPr sz="1500" b="0">
                <a:solidFill>
                  <a:srgbClr val="444444"/>
                </a:solidFill>
                <a:latin typeface="Malgun Gothic"/>
              </a:rPr>
              <a:t> — 42,408건 학습 모델로 제조량 구간별 로스율 교차 검증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500" b="1">
                <a:solidFill>
                  <a:srgbClr val="1A1A1A"/>
                </a:solidFill>
                <a:latin typeface="Malgun Gothic"/>
              </a:rPr>
              <a:t>폐기 데이터 보정</a:t>
            </a:r>
            <a:r>
              <a:rPr sz="1500" b="0">
                <a:solidFill>
                  <a:srgbClr val="444444"/>
                </a:solidFill>
                <a:latin typeface="Malgun Gothic"/>
              </a:rPr>
              <a:t> — 폐기된 벌크량을 차감하여 실제 사용량 기준으로 계산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500" b="1">
                <a:solidFill>
                  <a:srgbClr val="1A1A1A"/>
                </a:solidFill>
                <a:latin typeface="Malgun Gothic"/>
              </a:rPr>
              <a:t>데이터 자동 저장</a:t>
            </a:r>
            <a:r>
              <a:rPr sz="1500" b="0">
                <a:solidFill>
                  <a:srgbClr val="444444"/>
                </a:solidFill>
                <a:latin typeface="Malgun Gothic"/>
              </a:rPr>
              <a:t> — IndexedDB에 SAP·폐기 데이터 저장, 페이지 재접속 시 자동 복원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500" b="1">
                <a:solidFill>
                  <a:srgbClr val="1A1A1A"/>
                </a:solidFill>
                <a:latin typeface="Malgun Gothic"/>
              </a:rPr>
              <a:t>결과 내보내기</a:t>
            </a:r>
            <a:r>
              <a:rPr sz="1500" b="0">
                <a:solidFill>
                  <a:srgbClr val="444444"/>
                </a:solidFill>
                <a:latin typeface="Malgun Gothic"/>
              </a:rPr>
              <a:t> — 엑셀(XLSX) / CSV 파일 다운로드 지원 (신뢰도 컬럼 포함 14열)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Malgun Gothic"/>
              </a:rPr>
              <a:t>COSMAX 생산3팀 | 파우더 벌크 제조량 예측 프로그램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Malgun Gothic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C8102E"/>
                </a:solidFill>
                <a:latin typeface="Malgun Gothi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algun Gothic"/>
              </a:rPr>
              <a:t>필요 데이터 3종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972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1371600"/>
                <a:gridCol w="5212080"/>
              </a:tblGrid>
              <a:tr h="5257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데이터</a:t>
                      </a:r>
                    </a:p>
                  </a:txBody>
                  <a:tcPr marL="91440" marR="91440" marT="54864" marB="54864">
                    <a:solidFill>
                      <a:srgbClr val="C81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버튼 색상</a:t>
                      </a:r>
                    </a:p>
                  </a:txBody>
                  <a:tcPr marL="91440" marR="91440" marT="54864" marB="54864">
                    <a:solidFill>
                      <a:srgbClr val="C81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필수 여부</a:t>
                      </a:r>
                    </a:p>
                  </a:txBody>
                  <a:tcPr marL="91440" marR="91440" marT="54864" marB="54864">
                    <a:solidFill>
                      <a:srgbClr val="C81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91440" marR="91440" marT="54864" marB="54864">
                    <a:solidFill>
                      <a:srgbClr val="C8102E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완제품 BOM 데이터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보라색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SAP에서 추출한 BOM (TXT / CSV)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표준 대비 실적 데이터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파란색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SAP 표준소요량 대비 실제 투입량 이력 (CSV / XLSX)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벌크 폐기 데이터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초록색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선택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폐기 처리된 벌크 수량 (CSV / XLSX, 화성/평택 시트)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3931920"/>
            <a:ext cx="10972800" cy="1097280"/>
          </a:xfrm>
          <a:prstGeom prst="rect">
            <a:avLst/>
          </a:prstGeom>
          <a:solidFill>
            <a:srgbClr val="F0F4FF"/>
          </a:solidFill>
          <a:ln>
            <a:solidFill>
              <a:srgbClr val="4E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E79A7"/>
                </a:solidFill>
                <a:latin typeface="Malgun Gothic"/>
              </a:rPr>
              <a:t>참고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algun Gothic"/>
              </a:rPr>
              <a:t>• 폐기 데이터가 없어도 예측은 가능 — 다만 함께 업로드하면 실제 사용량을 보정하여 더 정확한 로스율 산출
• 업로드 순서는 자유 / '벌크 필요량 계산' 버튼 누르기 전에 표준 대비 실적 데이터만 있으면 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Malgun Gothic"/>
              </a:rPr>
              <a:t>2026년 4월 기준 데이터 규모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300" b="1">
                <a:solidFill>
                  <a:srgbClr val="1A1A1A"/>
                </a:solidFill>
                <a:latin typeface="Malgun Gothic"/>
              </a:rPr>
              <a:t>표준 대비 실적</a:t>
            </a:r>
            <a:r>
              <a:rPr sz="1300" b="0">
                <a:solidFill>
                  <a:srgbClr val="444444"/>
                </a:solidFill>
                <a:latin typeface="Malgun Gothic"/>
              </a:rPr>
              <a:t> — 46,354건 (2023.01 ~ 2026.04, 3년 3개월)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300" b="1">
                <a:solidFill>
                  <a:srgbClr val="1A1A1A"/>
                </a:solidFill>
                <a:latin typeface="Malgun Gothic"/>
              </a:rPr>
              <a:t>벌크 폐기</a:t>
            </a:r>
            <a:r>
              <a:rPr sz="1300" b="0">
                <a:solidFill>
                  <a:srgbClr val="444444"/>
                </a:solidFill>
                <a:latin typeface="Malgun Gothic"/>
              </a:rPr>
              <a:t> — 366건 (화성 134 / 평택 232, 최근 1개월)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Malgun Gothic"/>
              </a:rPr>
              <a:t>COSMAX 생산3팀 | 파우더 벌크 제조량 예측 프로그램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Malgun Gothic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C8102E"/>
                </a:solidFill>
                <a:latin typeface="Malgun Gothi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algun Gothic"/>
              </a:rPr>
              <a:t>예측 계산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Malgun Gothic"/>
              </a:rPr>
              <a:t>Step 1. 이론 필요량 산출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60704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Malgun Gothic"/>
              </a:rPr>
              <a:t>이론 필요량(g) = 성형물 필요 수량(ea) × 벌크 투입량(g)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Malgun Gothic"/>
              </a:rPr>
              <a:t>Step 2. 로스율 산출 (최근 5건 가중평균)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63240"/>
            <a:ext cx="1060704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Malgun Gothic"/>
              </a:rPr>
              <a:t>로스율(%) = (실제 투입량 − 표준소요량) ÷ 표준소요량 ×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0">
                <a:solidFill>
                  <a:srgbClr val="1A1A1A"/>
                </a:solidFill>
                <a:latin typeface="Malgun Gothic"/>
              </a:rPr>
              <a:t>과거 이력 최신순 정렬 → 유효한 최근 5건을 '가중평균' (최신일수록 큰 가중치: 5,4,3,2,1)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0">
                <a:solidFill>
                  <a:srgbClr val="1A1A1A"/>
                </a:solidFill>
                <a:latin typeface="Malgun Gothic"/>
              </a:rPr>
              <a:t>표준소요량 3,000g 이하는 제외 (소량 제조 시 로스율 왜곡 방지)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0">
                <a:solidFill>
                  <a:srgbClr val="1A1A1A"/>
                </a:solidFill>
                <a:latin typeface="Malgun Gothic"/>
              </a:rPr>
              <a:t>폐기 데이터가 있으면 실제 투입량에서 폐기량 차감 후 로스율 계산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Malgun Gothic"/>
              </a:rPr>
              <a:t>Step 3. 최적 제조량 산출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Malgun Gothic"/>
              </a:rPr>
              <a:t>최적 제조량(g) = 이론 필요량 × (1 + 로스율 ÷ 100)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17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예시: 57,000g × (1 + 10.59/100) = 63,036g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Malgun Gothic"/>
              </a:rPr>
              <a:t>COSMAX 생산3팀 | 파우더 벌크 제조량 예측 프로그램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Malgun Gothic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C8102E"/>
                </a:solidFill>
                <a:latin typeface="Malgun Gothi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algun Gothic"/>
              </a:rPr>
              <a:t>신뢰도 점수 시스템 (0~100점)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Malgun Gothic"/>
              </a:rPr>
              <a:t>각 예측에 대해 얼마나 믿을 수 있는지를 직관적으로 확인 — 표본수·편차·최신성 3요소로 평가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5943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137160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항목 (만점)</a:t>
                      </a:r>
                    </a:p>
                  </a:txBody>
                  <a:tcPr marL="91440" marR="91440" marT="54864" marB="54864">
                    <a:solidFill>
                      <a:srgbClr val="C81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기준</a:t>
                      </a:r>
                    </a:p>
                  </a:txBody>
                  <a:tcPr marL="91440" marR="91440" marT="54864" marB="54864">
                    <a:solidFill>
                      <a:srgbClr val="C81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점수</a:t>
                      </a:r>
                    </a:p>
                  </a:txBody>
                  <a:tcPr marL="91440" marR="91440" marT="54864" marB="54864">
                    <a:solidFill>
                      <a:srgbClr val="C8102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표본 수 (40점)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5건 이상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40점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3~4건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25점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1~2건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10점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편차 (40점)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표준편차 3% 미만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40점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표준편차 7% 미만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25점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표준편차 15% 미만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10점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최신성 (20점)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최신 이력 30일 이내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20점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최신 이력 90일 이내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10점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최신 이력 180일 이내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5점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1828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Malgun Gothic"/>
              </a:rPr>
              <a:t>등급 및 취급 기준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2240280"/>
          <a:ext cx="4846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97280"/>
                <a:gridCol w="24688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등급</a:t>
                      </a:r>
                    </a:p>
                  </a:txBody>
                  <a:tcPr marL="91440" marR="91440" marT="54864" marB="54864">
                    <a:solidFill>
                      <a:srgbClr val="C81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점수</a:t>
                      </a:r>
                    </a:p>
                  </a:txBody>
                  <a:tcPr marL="91440" marR="91440" marT="54864" marB="54864">
                    <a:solidFill>
                      <a:srgbClr val="C81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취급</a:t>
                      </a:r>
                    </a:p>
                  </a:txBody>
                  <a:tcPr marL="91440" marR="91440" marT="54864" marB="54864">
                    <a:solidFill>
                      <a:srgbClr val="C810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80+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그대로 활용 가능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보통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50~79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활용 가능하나 주의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낮음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30~49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참고용 · 실측 권장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매우 낮음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~29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실측 필수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858000" y="4709160"/>
            <a:ext cx="4846320" cy="1325880"/>
          </a:xfrm>
          <a:prstGeom prst="rect">
            <a:avLst/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4800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Malgun Gothic"/>
              </a:rPr>
              <a:t>시각적 강조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507492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algun Gothic"/>
              </a:rPr>
              <a:t>• 낮음 → 옅은 주황 배경
• 매우 낮음 → 옅은 빨강 배경 (실측 필수)
• 툴팁에 표본수·편차·최신성 상세 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Malgun Gothic"/>
              </a:rPr>
              <a:t>COSMAX 생산3팀 | 파우더 벌크 제조량 예측 프로그램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Malgun Gothic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C8102E"/>
                </a:solidFill>
                <a:latin typeface="Malgun Gothi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algun Gothic"/>
              </a:rPr>
              <a:t>ML(머신러닝) 예측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Malgun Gothic"/>
              </a:rPr>
              <a:t>SAP 실적 데이터를 Gradient Boosting 알고리즘으로 학습 — 벌크코드별 + 제조량 구간별 예측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566160" cy="1188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C8102E"/>
                </a:solidFill>
                <a:latin typeface="Malgun Gothic"/>
              </a:rPr>
              <a:t>42,408건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  <a:latin typeface="Malgun Gothic"/>
              </a:rPr>
              <a:t>학습 데이터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566160" cy="1188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96596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4E79A7"/>
                </a:solidFill>
                <a:latin typeface="Malgun Gothic"/>
              </a:rPr>
              <a:t>6,131종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060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  <a:latin typeface="Malgun Gothic"/>
              </a:rPr>
              <a:t>예측 벌크 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828800"/>
            <a:ext cx="3566160" cy="1188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96596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C8102E"/>
                </a:solidFill>
                <a:latin typeface="Malgun Gothic"/>
              </a:rPr>
              <a:t>11.91%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6060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  <a:latin typeface="Malgun Gothic"/>
              </a:rPr>
              <a:t>테스트 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Malgun Gothic"/>
              </a:rPr>
              <a:t>학습에 사용되는 7개 변수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" y="379476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31432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변수</a:t>
                      </a:r>
                    </a:p>
                  </a:txBody>
                  <a:tcPr marL="91440" marR="91440" marT="54864" marB="54864">
                    <a:solidFill>
                      <a:srgbClr val="C81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91440" marR="91440" marT="54864" marB="54864">
                    <a:solidFill>
                      <a:srgbClr val="C8102E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실적수량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실제 생산된 성형물 수량 (제조 규모)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관리유형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제품의 관리 유형 분류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작업장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공장·설비가 결합된 작업장 정보 (예: 화성 자동 파우더 성형기2)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벌크 평균 로스율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해당 벌크의 과거 평균 로스율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벌크 로스율 표준편차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로스율 변동성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벌크 로스율 중간값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이상치에 덜 민감한 대표값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평균 단위당 표준소요량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성형물 1개당 벌크 투입량 평균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Malgun Gothic"/>
              </a:rPr>
              <a:t>COSMAX 생산3팀 | 파우더 벌크 제조량 예측 프로그램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Malgun Gothic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C8102E"/>
                </a:solidFill>
                <a:latin typeface="Malgun Gothic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algun Gothic"/>
              </a:rPr>
              <a:t>SAP 방식 vs ML 방식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572000"/>
                <a:gridCol w="4572000"/>
              </a:tblGrid>
              <a:tr h="56170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91440" marR="91440" marT="54864" marB="54864">
                    <a:solidFill>
                      <a:srgbClr val="C81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SAP 방식 (기본)</a:t>
                      </a:r>
                    </a:p>
                  </a:txBody>
                  <a:tcPr marL="91440" marR="91440" marT="54864" marB="54864">
                    <a:solidFill>
                      <a:srgbClr val="C81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ML 방식 (참고)</a:t>
                      </a:r>
                    </a:p>
                  </a:txBody>
                  <a:tcPr marL="91440" marR="91440" marT="54864" marB="54864">
                    <a:solidFill>
                      <a:srgbClr val="C8102E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로스율 기준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최근 5건의 가중평균 로스율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전체 이력 + 다양한 조건 학습 결과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제조량 반영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반영하지 않음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제조량 구간별 다른 로스율 적용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이력 1건일 때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그 1건의 로스율 (신뢰도 낮음)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작업장·관리유형·제조량 등 조건 종합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이력 없을 때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- 표시 (예측 불가)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- 표시 (학습 데이터 없음)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장점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최근 현장 상황 즉시 반영
이상치 1건 영향 감소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제조량·작업장·관리유형 조건 반영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활용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기본 예측값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교차 검증용 참고값</a:t>
                      </a:r>
                    </a:p>
                  </a:txBody>
                  <a:tcPr marL="91440" marR="91440" marT="54864" marB="54864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57784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Malgun Gothic"/>
              </a:rPr>
              <a:t>결론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algun Gothic"/>
              </a:rPr>
              <a:t>SAP 방식을 기본값으로 사용하고, ML 예측은 교차 검증용 참고값으로 활용. 두 예측의 차이가 크면(5%p↑ 노랑 / 10%p↑ 빨강) 실측 검토 필요.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Malgun Gothic"/>
              </a:rPr>
              <a:t>COSMAX 생산3팀 | 파우더 벌크 제조량 예측 프로그램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Malgun Gothic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C8102E"/>
                </a:solidFill>
                <a:latin typeface="Malgun Gothic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algun Gothic"/>
              </a:rPr>
              <a:t>결과 화면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Malgun Gothic"/>
              </a:rPr>
              <a:t>결과 테이블 항목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0">
                <a:solidFill>
                  <a:srgbClr val="1A1A1A"/>
                </a:solidFill>
                <a:latin typeface="Malgun Gothic"/>
              </a:rPr>
              <a:t>성형물/벌크 코드·명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0">
                <a:solidFill>
                  <a:srgbClr val="1A1A1A"/>
                </a:solidFill>
                <a:latin typeface="Malgun Gothic"/>
              </a:rPr>
              <a:t>투입량 (소수점 셋째자리)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0">
                <a:solidFill>
                  <a:srgbClr val="1A1A1A"/>
                </a:solidFill>
                <a:latin typeface="Malgun Gothic"/>
              </a:rPr>
              <a:t>필요 수량 · 이론 필요량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0">
                <a:solidFill>
                  <a:srgbClr val="1A1A1A"/>
                </a:solidFill>
                <a:latin typeface="Malgun Gothic"/>
              </a:rPr>
              <a:t>평균 로스율 (5건 가중평균)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0">
                <a:solidFill>
                  <a:srgbClr val="1A1A1A"/>
                </a:solidFill>
                <a:latin typeface="Malgun Gothic"/>
              </a:rPr>
              <a:t>최적 제조량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0">
                <a:solidFill>
                  <a:srgbClr val="1A1A1A"/>
                </a:solidFill>
                <a:latin typeface="Malgun Gothic"/>
              </a:rPr>
              <a:t>신뢰도 배지 + 점수 + 툴팁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Malgun Gothic"/>
              </a:rPr>
              <a:t>정렬 &amp; 시각 강조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0">
                <a:solidFill>
                  <a:srgbClr val="1A1A1A"/>
                </a:solidFill>
                <a:latin typeface="Malgun Gothic"/>
              </a:rPr>
              <a:t>정렬: 신뢰도 / 제조량 / 로스율 순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0">
                <a:solidFill>
                  <a:srgbClr val="1A1A1A"/>
                </a:solidFill>
                <a:latin typeface="Malgun Gothic"/>
              </a:rPr>
              <a:t>저신뢰도 행: 주황 / 빨강 배경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0">
                <a:solidFill>
                  <a:srgbClr val="1A1A1A"/>
                </a:solidFill>
                <a:latin typeface="Malgun Gothic"/>
              </a:rPr>
              <a:t>ML vs SAP 차이: 5%p 노랑, 10%p 빨강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0">
                <a:solidFill>
                  <a:srgbClr val="1A1A1A"/>
                </a:solidFill>
                <a:latin typeface="Malgun Gothic"/>
              </a:rPr>
              <a:t>5건 가중평균 툴팁 (계산 과정 표시)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0">
                <a:solidFill>
                  <a:srgbClr val="1A1A1A"/>
                </a:solidFill>
                <a:latin typeface="Malgun Gothic"/>
              </a:rPr>
              <a:t>이력 모달 75% 확대 (5건 테두리)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0">
                <a:solidFill>
                  <a:srgbClr val="1A1A1A"/>
                </a:solidFill>
                <a:latin typeface="Malgun Gothic"/>
              </a:rPr>
              <a:t>행 더블클릭 → 과거 이력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Malgun Gothic"/>
              </a:rPr>
              <a:t>엑셀 다운로드 — 14개 컬럼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846320"/>
            <a:ext cx="11064240" cy="14630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Malgun Gothic"/>
              </a:rPr>
              <a:t>기본 9개 컬럼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120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algun Gothic"/>
              </a:rPr>
              <a:t>성형물코드 · 성형물명 · 벌크코드 · 벌크명 · 투입량(g) · 필요수량(ea) · 이론 필요량(g) · 평균 로스율 · 최적 제조량(g)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235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Malgun Gothic"/>
              </a:rPr>
              <a:t>신뢰도 관련 5개 컬럼 (신규)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978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algun Gothic"/>
              </a:rPr>
              <a:t>신뢰도 등급 · 신뢰도 점수 · 유효 표본수 · 편차(%) · 최신 이력(일전)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Malgun Gothic"/>
              </a:rPr>
              <a:t>COSMAX 생산3팀 | 파우더 벌크 제조량 예측 프로그램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Malgun Gothic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C8102E"/>
                </a:solidFill>
                <a:latin typeface="Malgun Gothic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algun Gothic"/>
              </a:rPr>
              <a:t>시스템 특징 &amp;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1645920"/>
          </a:xfrm>
          <a:prstGeom prst="rect">
            <a:avLst/>
          </a:prstGeom>
          <a:solidFill>
            <a:srgbClr val="F8F9FA"/>
          </a:solidFill>
          <a:ln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C8102E"/>
                </a:solidFill>
                <a:latin typeface="Malgun Gothic"/>
              </a:rPr>
              <a:t>데이터 자동 저장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Malgun Gothic"/>
              </a:rPr>
              <a:t>IndexedDB에 SAP·환입/폐기 데이터를 자동 저장
페이지 재접속 시 자동 복원되어 매번 재업로드 불필요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280160"/>
            <a:ext cx="3657600" cy="1645920"/>
          </a:xfrm>
          <a:prstGeom prst="rect">
            <a:avLst/>
          </a:prstGeom>
          <a:solidFill>
            <a:srgbClr val="F8F9FA"/>
          </a:solidFill>
          <a:ln>
            <a:solidFill>
              <a:srgbClr val="4E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463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E79A7"/>
                </a:solidFill>
                <a:latin typeface="Malgun Gothic"/>
              </a:rPr>
              <a:t>운영 유연성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92024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Malgun Gothic"/>
              </a:rPr>
              <a:t>BOM만 초기화 버튼 / 전체 초기화 버튼 분리
기존 이력 유지한 채 새로운 발주 건만 계산 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280160"/>
            <a:ext cx="3657600" cy="1645920"/>
          </a:xfrm>
          <a:prstGeom prst="rect">
            <a:avLst/>
          </a:prstGeom>
          <a:solidFill>
            <a:srgbClr val="F8F9FA"/>
          </a:solidFill>
          <a:ln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463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C8102E"/>
                </a:solidFill>
                <a:latin typeface="Malgun Gothic"/>
              </a:rPr>
              <a:t>지속적 학습 반영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Malgun Gothic"/>
              </a:rPr>
              <a:t>매주 최신 SAP 실적 데이터 반영
retrain.py 실행 시 ML 모델 자동 재학습 + 지표 갱신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Malgun Gothic"/>
              </a:rPr>
              <a:t>향후 발전 방향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1">
                <a:solidFill>
                  <a:srgbClr val="1A1A1A"/>
                </a:solidFill>
                <a:latin typeface="Malgun Gothic"/>
              </a:rPr>
              <a:t>데이터 축적</a:t>
            </a:r>
            <a:r>
              <a:rPr sz="1200" b="0">
                <a:solidFill>
                  <a:srgbClr val="444444"/>
                </a:solidFill>
                <a:latin typeface="Malgun Gothic"/>
              </a:rPr>
              <a:t> — 매주 SAP 실적 업데이트로 신뢰도 '매우 낮음' 품목 감소 → 예측 정확도 상승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1">
                <a:solidFill>
                  <a:srgbClr val="1A1A1A"/>
                </a:solidFill>
                <a:latin typeface="Malgun Gothic"/>
              </a:rPr>
              <a:t>ML 정확도 개선</a:t>
            </a:r>
            <a:r>
              <a:rPr sz="1200" b="0">
                <a:solidFill>
                  <a:srgbClr val="444444"/>
                </a:solidFill>
                <a:latin typeface="Malgun Gothic"/>
              </a:rPr>
              <a:t> — 현재 테스트 MAE 11.91% → 추가 피처 엔지니어링으로 한 자리 수 목표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102E"/>
                </a:solidFill>
                <a:latin typeface="Malgun Gothic"/>
              </a:rPr>
              <a:t>• </a:t>
            </a:r>
            <a:r>
              <a:rPr sz="1200" b="1">
                <a:solidFill>
                  <a:srgbClr val="1A1A1A"/>
                </a:solidFill>
                <a:latin typeface="Malgun Gothic"/>
              </a:rPr>
              <a:t>자동화 확장</a:t>
            </a:r>
            <a:r>
              <a:rPr sz="1200" b="0">
                <a:solidFill>
                  <a:srgbClr val="444444"/>
                </a:solidFill>
                <a:latin typeface="Malgun Gothic"/>
              </a:rPr>
              <a:t> — SAP_BOM조회.vbs 통한 발주량 자동 연동, 결과 리포트 자동 생성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Malgun Gothic"/>
              </a:rPr>
              <a:t>요약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algun Gothic"/>
              </a:rPr>
              <a:t>SAP 실적 + ML + 신뢰도 평가를 결합하여, 현장에서 실측 없이 최적 제조량을 빠르게 도출.
데이터가 쌓일수록 예측 신뢰도가 자동으로 상승하는 구조.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Malgun Gothic"/>
              </a:rPr>
              <a:t>COSMAX 생산3팀 | 파우더 벌크 제조량 예측 프로그램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Malgun Gothic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